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56" d="100"/>
          <a:sy n="56" d="100"/>
        </p:scale>
        <p:origin x="43" y="5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1A0D-C153-084F-F963-19A1427634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CD43A7-3AE3-DA20-E4E0-F71499B317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A6D9CA-332B-0467-C8AF-5C68AC02E852}"/>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5" name="Footer Placeholder 4">
            <a:extLst>
              <a:ext uri="{FF2B5EF4-FFF2-40B4-BE49-F238E27FC236}">
                <a16:creationId xmlns:a16="http://schemas.microsoft.com/office/drawing/2014/main" id="{51D5701D-7D86-8912-DAF9-B879676119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AB1687-AD2D-CE09-5749-5DD4B3B343AE}"/>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1935096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651F1-4CF6-0940-7404-D9DF24631E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E7B1F7-2D1F-443C-2594-DDF854AD65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7D2B6-BBAC-B9C6-C9A4-77303756692B}"/>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5" name="Footer Placeholder 4">
            <a:extLst>
              <a:ext uri="{FF2B5EF4-FFF2-40B4-BE49-F238E27FC236}">
                <a16:creationId xmlns:a16="http://schemas.microsoft.com/office/drawing/2014/main" id="{495A8CFF-E3CE-28C0-B39B-417380007E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917CB3-21C6-7B00-F409-2E5AEEB164F0}"/>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1272833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0620E-5B48-3809-63C0-5573EB734B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465D40-6A0F-633F-FCF1-73821FDFE6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AC6D25-BE51-377A-CB82-F26EB3B3A7C5}"/>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5" name="Footer Placeholder 4">
            <a:extLst>
              <a:ext uri="{FF2B5EF4-FFF2-40B4-BE49-F238E27FC236}">
                <a16:creationId xmlns:a16="http://schemas.microsoft.com/office/drawing/2014/main" id="{AF9EB46A-AC3C-0F76-70FD-1493B5F6D3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32B3F8-B07E-0DCD-08D9-B688E4ACA277}"/>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1621275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67521-AB46-1FA1-90C0-5298FDBE5F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BC8B75-1656-6394-4197-02F0B790D4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2778DA-01AE-221E-448A-25B47B0C48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718CA6-8799-2A7D-DEB8-AFEBCBF9F6F3}"/>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6" name="Footer Placeholder 5">
            <a:extLst>
              <a:ext uri="{FF2B5EF4-FFF2-40B4-BE49-F238E27FC236}">
                <a16:creationId xmlns:a16="http://schemas.microsoft.com/office/drawing/2014/main" id="{20B4D312-E33F-D434-478E-988E7FEFE9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52FFCE-8799-2306-86EB-7ECD795E6267}"/>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3727821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74C20-4F4D-29E9-68AD-811ACCCA06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4ADC40-D668-9BC2-3A40-7EFAAE1AA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72A69C-FB99-1E71-604C-884A505A8A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AA907B-7CCA-966C-B12B-27C9773BB3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3A860E-A9CD-9DDC-80E1-085691FDDD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465BFF-0B2B-62C5-4F75-AD79AC1B5050}"/>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8" name="Footer Placeholder 7">
            <a:extLst>
              <a:ext uri="{FF2B5EF4-FFF2-40B4-BE49-F238E27FC236}">
                <a16:creationId xmlns:a16="http://schemas.microsoft.com/office/drawing/2014/main" id="{DF9B49EF-C856-1371-9164-2C87F84780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185C4C-3A3D-E683-87AB-057FDACAE668}"/>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3065867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97959-002E-FB66-B7AA-624FDDA280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0C737A-98C8-2B6F-AC2C-4AFD6A47BB6A}"/>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4" name="Footer Placeholder 3">
            <a:extLst>
              <a:ext uri="{FF2B5EF4-FFF2-40B4-BE49-F238E27FC236}">
                <a16:creationId xmlns:a16="http://schemas.microsoft.com/office/drawing/2014/main" id="{562C7CF8-03B9-9D5B-EC5D-AF927A39A1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C68FE0-511B-7448-A4C2-8E6BFB503E0B}"/>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2879846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22499E-9A32-0E1C-3766-ED840C9977DA}"/>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3" name="Footer Placeholder 2">
            <a:extLst>
              <a:ext uri="{FF2B5EF4-FFF2-40B4-BE49-F238E27FC236}">
                <a16:creationId xmlns:a16="http://schemas.microsoft.com/office/drawing/2014/main" id="{02C2365A-F32C-9444-4CEC-40CBCE6DB6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9DD8BF-59B4-000E-7370-DDD85A9F5B8E}"/>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12383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73EAF-19A6-87A4-4E2E-612D67185B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F2331D-884F-7584-C973-E30E30B822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392083-6AD4-2358-0737-26D0FA4A98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179487-2EAE-DF54-1760-59F0C7D894FA}"/>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6" name="Footer Placeholder 5">
            <a:extLst>
              <a:ext uri="{FF2B5EF4-FFF2-40B4-BE49-F238E27FC236}">
                <a16:creationId xmlns:a16="http://schemas.microsoft.com/office/drawing/2014/main" id="{7E636BF5-798C-9B7A-B7C6-E8C9663ABD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DA6FB9-A9BE-DFDE-3ACA-126117C3EB89}"/>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3855056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CCC2-BA85-19E4-2C8E-F7EEFD71F9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C5E38C-64C8-FB4E-F3DB-1B40807F5F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59BA1-A102-CFDF-68B9-BA069B62D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23B4BF-2875-276E-0D8B-80B59C742B93}"/>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6" name="Footer Placeholder 5">
            <a:extLst>
              <a:ext uri="{FF2B5EF4-FFF2-40B4-BE49-F238E27FC236}">
                <a16:creationId xmlns:a16="http://schemas.microsoft.com/office/drawing/2014/main" id="{9A8CDDE0-1548-2FCF-24CF-177543045D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488BC7-50F4-C1AE-0B60-5E80B0CF3DE6}"/>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2125459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54D58-7339-7012-E17D-2F1600D313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2CFA3A-5452-2469-1112-22E9A6BB23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3AA80-0D58-25ED-18F8-B1BD7BA6AF8D}"/>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5" name="Footer Placeholder 4">
            <a:extLst>
              <a:ext uri="{FF2B5EF4-FFF2-40B4-BE49-F238E27FC236}">
                <a16:creationId xmlns:a16="http://schemas.microsoft.com/office/drawing/2014/main" id="{D83E1D51-4331-D477-6238-59FC05753D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02C7AC-9B8A-39EA-3FD5-ABAEC09C8DFA}"/>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774682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AC9CCD-8727-8419-FD6D-1FE2DE39A9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B7FCDC-FD8B-07C1-A731-FFD94D6B37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3DE26-5416-055C-433E-13378B9F4522}"/>
              </a:ext>
            </a:extLst>
          </p:cNvPr>
          <p:cNvSpPr>
            <a:spLocks noGrp="1"/>
          </p:cNvSpPr>
          <p:nvPr>
            <p:ph type="dt" sz="half" idx="10"/>
          </p:nvPr>
        </p:nvSpPr>
        <p:spPr/>
        <p:txBody>
          <a:bodyPr/>
          <a:lstStyle/>
          <a:p>
            <a:fld id="{8801DF9E-EEBA-41BF-AFD6-8CCF6DB55BCF}" type="datetimeFigureOut">
              <a:rPr lang="en-US" smtClean="0"/>
              <a:t>12/28/2025</a:t>
            </a:fld>
            <a:endParaRPr lang="en-US"/>
          </a:p>
        </p:txBody>
      </p:sp>
      <p:sp>
        <p:nvSpPr>
          <p:cNvPr id="5" name="Footer Placeholder 4">
            <a:extLst>
              <a:ext uri="{FF2B5EF4-FFF2-40B4-BE49-F238E27FC236}">
                <a16:creationId xmlns:a16="http://schemas.microsoft.com/office/drawing/2014/main" id="{6FCF50AF-2E08-71CA-B4A3-ABF3C40446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72DF1E-C764-0B63-A9C2-58689C122F9A}"/>
              </a:ext>
            </a:extLst>
          </p:cNvPr>
          <p:cNvSpPr>
            <a:spLocks noGrp="1"/>
          </p:cNvSpPr>
          <p:nvPr>
            <p:ph type="sldNum" sz="quarter" idx="12"/>
          </p:nvPr>
        </p:nvSpPr>
        <p:spPr/>
        <p:txBody>
          <a:bodyPr/>
          <a:lstStyle/>
          <a:p>
            <a:fld id="{DF912957-2BBE-4204-9FD9-98BB57A7227A}" type="slidenum">
              <a:rPr lang="en-US" smtClean="0"/>
              <a:t>‹#›</a:t>
            </a:fld>
            <a:endParaRPr lang="en-US"/>
          </a:p>
        </p:txBody>
      </p:sp>
    </p:spTree>
    <p:extLst>
      <p:ext uri="{BB962C8B-B14F-4D97-AF65-F5344CB8AC3E}">
        <p14:creationId xmlns:p14="http://schemas.microsoft.com/office/powerpoint/2010/main" val="1953652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6D3891-4283-C85B-3447-38832FCFEC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2B4EF1-9947-D2FB-6C21-AC5CCC72AD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9AE38A-A370-009A-0AF7-28F27D4BFC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01DF9E-EEBA-41BF-AFD6-8CCF6DB55BCF}" type="datetimeFigureOut">
              <a:rPr lang="en-US" smtClean="0"/>
              <a:t>12/28/2025</a:t>
            </a:fld>
            <a:endParaRPr lang="en-US"/>
          </a:p>
        </p:txBody>
      </p:sp>
      <p:sp>
        <p:nvSpPr>
          <p:cNvPr id="5" name="Footer Placeholder 4">
            <a:extLst>
              <a:ext uri="{FF2B5EF4-FFF2-40B4-BE49-F238E27FC236}">
                <a16:creationId xmlns:a16="http://schemas.microsoft.com/office/drawing/2014/main" id="{49E14CA5-2FCE-30FA-5FCF-0AE0A69768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37D2F0A-A1C4-6849-7CF4-AFA303A7CA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912957-2BBE-4204-9FD9-98BB57A7227A}" type="slidenum">
              <a:rPr lang="en-US" smtClean="0"/>
              <a:t>‹#›</a:t>
            </a:fld>
            <a:endParaRPr lang="en-US"/>
          </a:p>
        </p:txBody>
      </p:sp>
    </p:spTree>
    <p:extLst>
      <p:ext uri="{BB962C8B-B14F-4D97-AF65-F5344CB8AC3E}">
        <p14:creationId xmlns:p14="http://schemas.microsoft.com/office/powerpoint/2010/main" val="2096330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34D01-CAC9-2536-7ADC-99AE056C88C3}"/>
              </a:ext>
            </a:extLst>
          </p:cNvPr>
          <p:cNvSpPr>
            <a:spLocks noGrp="1"/>
          </p:cNvSpPr>
          <p:nvPr>
            <p:ph type="ctrTitle"/>
          </p:nvPr>
        </p:nvSpPr>
        <p:spPr/>
        <p:txBody>
          <a:bodyPr/>
          <a:lstStyle/>
          <a:p>
            <a:r>
              <a:rPr lang="en-US" dirty="0"/>
              <a:t>Views Presentation</a:t>
            </a:r>
          </a:p>
        </p:txBody>
      </p:sp>
      <p:sp>
        <p:nvSpPr>
          <p:cNvPr id="3" name="Subtitle 2">
            <a:extLst>
              <a:ext uri="{FF2B5EF4-FFF2-40B4-BE49-F238E27FC236}">
                <a16:creationId xmlns:a16="http://schemas.microsoft.com/office/drawing/2014/main" id="{DC56AD6D-902B-95FD-D0DD-337A24910BDA}"/>
              </a:ext>
            </a:extLst>
          </p:cNvPr>
          <p:cNvSpPr>
            <a:spLocks noGrp="1"/>
          </p:cNvSpPr>
          <p:nvPr>
            <p:ph type="subTitle" idx="1"/>
          </p:nvPr>
        </p:nvSpPr>
        <p:spPr>
          <a:xfrm>
            <a:off x="1524000" y="3602038"/>
            <a:ext cx="9144000" cy="618270"/>
          </a:xfrm>
        </p:spPr>
        <p:txBody>
          <a:bodyPr/>
          <a:lstStyle/>
          <a:p>
            <a:r>
              <a:rPr lang="en-US" dirty="0"/>
              <a:t>By David Hong</a:t>
            </a:r>
          </a:p>
        </p:txBody>
      </p:sp>
    </p:spTree>
    <p:extLst>
      <p:ext uri="{BB962C8B-B14F-4D97-AF65-F5344CB8AC3E}">
        <p14:creationId xmlns:p14="http://schemas.microsoft.com/office/powerpoint/2010/main" val="59482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676A-F218-CCF4-E16B-D199D4F3111B}"/>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D748F08B-A4A1-DA66-1536-193EAA236236}"/>
              </a:ext>
            </a:extLst>
          </p:cNvPr>
          <p:cNvSpPr>
            <a:spLocks noGrp="1"/>
          </p:cNvSpPr>
          <p:nvPr>
            <p:ph idx="1"/>
          </p:nvPr>
        </p:nvSpPr>
        <p:spPr/>
        <p:txBody>
          <a:bodyPr/>
          <a:lstStyle/>
          <a:p>
            <a:r>
              <a:rPr lang="en-US" dirty="0"/>
              <a:t>Eclipse is a popular IDE used to program Java applications, so it is important to understand how to use its features effectively. Views are windows that help programmers organize their working space, so it can make the programming process exponentially easier.</a:t>
            </a:r>
          </a:p>
        </p:txBody>
      </p:sp>
    </p:spTree>
    <p:extLst>
      <p:ext uri="{BB962C8B-B14F-4D97-AF65-F5344CB8AC3E}">
        <p14:creationId xmlns:p14="http://schemas.microsoft.com/office/powerpoint/2010/main" val="3017262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8542C-EA3C-F773-C4B2-715A24630CE0}"/>
              </a:ext>
            </a:extLst>
          </p:cNvPr>
          <p:cNvSpPr>
            <a:spLocks noGrp="1"/>
          </p:cNvSpPr>
          <p:nvPr>
            <p:ph type="title"/>
          </p:nvPr>
        </p:nvSpPr>
        <p:spPr/>
        <p:txBody>
          <a:bodyPr/>
          <a:lstStyle/>
          <a:p>
            <a:r>
              <a:rPr lang="en-US" dirty="0"/>
              <a:t>Package Explorer View</a:t>
            </a:r>
          </a:p>
        </p:txBody>
      </p:sp>
      <p:sp>
        <p:nvSpPr>
          <p:cNvPr id="3" name="Content Placeholder 2">
            <a:extLst>
              <a:ext uri="{FF2B5EF4-FFF2-40B4-BE49-F238E27FC236}">
                <a16:creationId xmlns:a16="http://schemas.microsoft.com/office/drawing/2014/main" id="{E6DC7BBE-5484-9F37-3A15-1BD98F1E7151}"/>
              </a:ext>
            </a:extLst>
          </p:cNvPr>
          <p:cNvSpPr>
            <a:spLocks noGrp="1"/>
          </p:cNvSpPr>
          <p:nvPr>
            <p:ph idx="1"/>
          </p:nvPr>
        </p:nvSpPr>
        <p:spPr/>
        <p:txBody>
          <a:bodyPr/>
          <a:lstStyle/>
          <a:p>
            <a:r>
              <a:rPr lang="en-US" dirty="0"/>
              <a:t>The Package Explorer is present shown on the left margin of the IDE. It contains all projects you’ve created on Eclipse, listing all classes, packages, and libraries. This view is convenient because in projects with multiple packages and classes, it would save an immense amount of time if you had access to all the project information.</a:t>
            </a:r>
          </a:p>
        </p:txBody>
      </p:sp>
      <p:pic>
        <p:nvPicPr>
          <p:cNvPr id="5" name="Picture 4" descr="A screenshot of a computer&#10;&#10;AI-generated content may be incorrect.">
            <a:extLst>
              <a:ext uri="{FF2B5EF4-FFF2-40B4-BE49-F238E27FC236}">
                <a16:creationId xmlns:a16="http://schemas.microsoft.com/office/drawing/2014/main" id="{91208A37-235F-C447-A003-392EEF4B8192}"/>
              </a:ext>
            </a:extLst>
          </p:cNvPr>
          <p:cNvPicPr>
            <a:picLocks noChangeAspect="1"/>
          </p:cNvPicPr>
          <p:nvPr/>
        </p:nvPicPr>
        <p:blipFill>
          <a:blip r:embed="rId2"/>
          <a:stretch>
            <a:fillRect/>
          </a:stretch>
        </p:blipFill>
        <p:spPr>
          <a:xfrm>
            <a:off x="7404954" y="4001294"/>
            <a:ext cx="3825572" cy="2568163"/>
          </a:xfrm>
          <a:prstGeom prst="rect">
            <a:avLst/>
          </a:prstGeom>
        </p:spPr>
      </p:pic>
    </p:spTree>
    <p:extLst>
      <p:ext uri="{BB962C8B-B14F-4D97-AF65-F5344CB8AC3E}">
        <p14:creationId xmlns:p14="http://schemas.microsoft.com/office/powerpoint/2010/main" val="1700023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8638A-FA24-346B-92E9-871BD4A30503}"/>
              </a:ext>
            </a:extLst>
          </p:cNvPr>
          <p:cNvSpPr>
            <a:spLocks noGrp="1"/>
          </p:cNvSpPr>
          <p:nvPr>
            <p:ph type="title"/>
          </p:nvPr>
        </p:nvSpPr>
        <p:spPr/>
        <p:txBody>
          <a:bodyPr/>
          <a:lstStyle/>
          <a:p>
            <a:r>
              <a:rPr lang="en-US" dirty="0"/>
              <a:t>Type Hierarchy View</a:t>
            </a:r>
          </a:p>
        </p:txBody>
      </p:sp>
      <p:sp>
        <p:nvSpPr>
          <p:cNvPr id="3" name="Content Placeholder 2">
            <a:extLst>
              <a:ext uri="{FF2B5EF4-FFF2-40B4-BE49-F238E27FC236}">
                <a16:creationId xmlns:a16="http://schemas.microsoft.com/office/drawing/2014/main" id="{B7C5E886-D515-671C-9E9A-5114C89D5302}"/>
              </a:ext>
            </a:extLst>
          </p:cNvPr>
          <p:cNvSpPr>
            <a:spLocks noGrp="1"/>
          </p:cNvSpPr>
          <p:nvPr>
            <p:ph idx="1"/>
          </p:nvPr>
        </p:nvSpPr>
        <p:spPr>
          <a:xfrm>
            <a:off x="838200" y="1825625"/>
            <a:ext cx="6175549" cy="4351338"/>
          </a:xfrm>
        </p:spPr>
        <p:txBody>
          <a:bodyPr/>
          <a:lstStyle/>
          <a:p>
            <a:r>
              <a:rPr lang="en-US" dirty="0"/>
              <a:t>The Type Hierarchy View displays the different datatypes of methods in different classes, as well as the datatypes of an object’s properties/attributes. Since datatypes matter in Java, this can help determine whether or method or object is categorized as the correct datatype.</a:t>
            </a:r>
          </a:p>
        </p:txBody>
      </p:sp>
      <p:pic>
        <p:nvPicPr>
          <p:cNvPr id="5" name="Picture 4" descr="A screenshot of a computer&#10;&#10;AI-generated content may be incorrect.">
            <a:extLst>
              <a:ext uri="{FF2B5EF4-FFF2-40B4-BE49-F238E27FC236}">
                <a16:creationId xmlns:a16="http://schemas.microsoft.com/office/drawing/2014/main" id="{35026770-AA90-A50A-17B8-B307F14EE48B}"/>
              </a:ext>
            </a:extLst>
          </p:cNvPr>
          <p:cNvPicPr>
            <a:picLocks noChangeAspect="1"/>
          </p:cNvPicPr>
          <p:nvPr/>
        </p:nvPicPr>
        <p:blipFill>
          <a:blip r:embed="rId2"/>
          <a:stretch>
            <a:fillRect/>
          </a:stretch>
        </p:blipFill>
        <p:spPr>
          <a:xfrm>
            <a:off x="7335297" y="365125"/>
            <a:ext cx="4134947" cy="4880338"/>
          </a:xfrm>
          <a:prstGeom prst="rect">
            <a:avLst/>
          </a:prstGeom>
        </p:spPr>
      </p:pic>
    </p:spTree>
    <p:extLst>
      <p:ext uri="{BB962C8B-B14F-4D97-AF65-F5344CB8AC3E}">
        <p14:creationId xmlns:p14="http://schemas.microsoft.com/office/powerpoint/2010/main" val="2807060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3A0-5BAD-BBC8-6A74-9199A78C2323}"/>
              </a:ext>
            </a:extLst>
          </p:cNvPr>
          <p:cNvSpPr>
            <a:spLocks noGrp="1"/>
          </p:cNvSpPr>
          <p:nvPr>
            <p:ph type="title"/>
          </p:nvPr>
        </p:nvSpPr>
        <p:spPr/>
        <p:txBody>
          <a:bodyPr/>
          <a:lstStyle/>
          <a:p>
            <a:r>
              <a:rPr lang="en-US" dirty="0"/>
              <a:t>Debug View</a:t>
            </a:r>
          </a:p>
        </p:txBody>
      </p:sp>
      <p:sp>
        <p:nvSpPr>
          <p:cNvPr id="3" name="Content Placeholder 2">
            <a:extLst>
              <a:ext uri="{FF2B5EF4-FFF2-40B4-BE49-F238E27FC236}">
                <a16:creationId xmlns:a16="http://schemas.microsoft.com/office/drawing/2014/main" id="{91C8AF65-CFEB-D1D0-A258-9B06CB3CF308}"/>
              </a:ext>
            </a:extLst>
          </p:cNvPr>
          <p:cNvSpPr>
            <a:spLocks noGrp="1"/>
          </p:cNvSpPr>
          <p:nvPr>
            <p:ph idx="1"/>
          </p:nvPr>
        </p:nvSpPr>
        <p:spPr/>
        <p:txBody>
          <a:bodyPr/>
          <a:lstStyle/>
          <a:p>
            <a:r>
              <a:rPr lang="en-US" dirty="0"/>
              <a:t>The Debugging View helps programmers verify that the program is error free by simply “stepping inside” each step that processes the logic. This means that the program confirms each line abides by Java syntax rules, so it reduces the time to detect errors. When the debugging process is successful, it should show a screen that says it terminated.</a:t>
            </a:r>
          </a:p>
        </p:txBody>
      </p:sp>
      <p:pic>
        <p:nvPicPr>
          <p:cNvPr id="6" name="Picture 5">
            <a:extLst>
              <a:ext uri="{FF2B5EF4-FFF2-40B4-BE49-F238E27FC236}">
                <a16:creationId xmlns:a16="http://schemas.microsoft.com/office/drawing/2014/main" id="{747FD874-B773-DABF-CE1B-2E58425F4438}"/>
              </a:ext>
            </a:extLst>
          </p:cNvPr>
          <p:cNvPicPr>
            <a:picLocks noChangeAspect="1"/>
          </p:cNvPicPr>
          <p:nvPr/>
        </p:nvPicPr>
        <p:blipFill>
          <a:blip r:embed="rId2"/>
          <a:stretch>
            <a:fillRect/>
          </a:stretch>
        </p:blipFill>
        <p:spPr>
          <a:xfrm>
            <a:off x="6166338" y="5055628"/>
            <a:ext cx="4572000" cy="504825"/>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3A77E770-FFF1-F643-138B-4CB52735B8FB}"/>
              </a:ext>
            </a:extLst>
          </p:cNvPr>
          <p:cNvPicPr>
            <a:picLocks noChangeAspect="1"/>
          </p:cNvPicPr>
          <p:nvPr/>
        </p:nvPicPr>
        <p:blipFill>
          <a:blip r:embed="rId3"/>
          <a:stretch>
            <a:fillRect/>
          </a:stretch>
        </p:blipFill>
        <p:spPr>
          <a:xfrm>
            <a:off x="1268873" y="4742099"/>
            <a:ext cx="4466793" cy="1434864"/>
          </a:xfrm>
          <a:prstGeom prst="rect">
            <a:avLst/>
          </a:prstGeom>
        </p:spPr>
      </p:pic>
    </p:spTree>
    <p:extLst>
      <p:ext uri="{BB962C8B-B14F-4D97-AF65-F5344CB8AC3E}">
        <p14:creationId xmlns:p14="http://schemas.microsoft.com/office/powerpoint/2010/main" val="357330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5CCB1-BAAF-167A-637D-9ED7F6F4288A}"/>
              </a:ext>
            </a:extLst>
          </p:cNvPr>
          <p:cNvSpPr>
            <a:spLocks noGrp="1"/>
          </p:cNvSpPr>
          <p:nvPr>
            <p:ph type="title"/>
          </p:nvPr>
        </p:nvSpPr>
        <p:spPr/>
        <p:txBody>
          <a:bodyPr/>
          <a:lstStyle/>
          <a:p>
            <a:r>
              <a:rPr lang="en-US" dirty="0"/>
              <a:t>Breakpoint View</a:t>
            </a:r>
          </a:p>
        </p:txBody>
      </p:sp>
      <p:sp>
        <p:nvSpPr>
          <p:cNvPr id="3" name="Content Placeholder 2">
            <a:extLst>
              <a:ext uri="{FF2B5EF4-FFF2-40B4-BE49-F238E27FC236}">
                <a16:creationId xmlns:a16="http://schemas.microsoft.com/office/drawing/2014/main" id="{F6326DB0-B729-D183-F389-C1205D4438D2}"/>
              </a:ext>
            </a:extLst>
          </p:cNvPr>
          <p:cNvSpPr>
            <a:spLocks noGrp="1"/>
          </p:cNvSpPr>
          <p:nvPr>
            <p:ph idx="1"/>
          </p:nvPr>
        </p:nvSpPr>
        <p:spPr/>
        <p:txBody>
          <a:bodyPr/>
          <a:lstStyle/>
          <a:p>
            <a:r>
              <a:rPr lang="en-US" dirty="0"/>
              <a:t>Breakpoints are used to notify the compiler where you want your program to start reading during the debugging stage. The Breakpoint view can display all breakpoints you’ve made in all your projects. This can be convenient when debugging code with thousands of lines. (The breakpoint is the blue dot)</a:t>
            </a:r>
          </a:p>
        </p:txBody>
      </p:sp>
      <p:pic>
        <p:nvPicPr>
          <p:cNvPr id="5" name="Picture 4" descr="A screenshot of a computer code&#10;&#10;AI-generated content may be incorrect.">
            <a:extLst>
              <a:ext uri="{FF2B5EF4-FFF2-40B4-BE49-F238E27FC236}">
                <a16:creationId xmlns:a16="http://schemas.microsoft.com/office/drawing/2014/main" id="{E810424E-0174-5F45-4B2F-7BC506559749}"/>
              </a:ext>
            </a:extLst>
          </p:cNvPr>
          <p:cNvPicPr>
            <a:picLocks noChangeAspect="1"/>
          </p:cNvPicPr>
          <p:nvPr/>
        </p:nvPicPr>
        <p:blipFill>
          <a:blip r:embed="rId2"/>
          <a:stretch>
            <a:fillRect/>
          </a:stretch>
        </p:blipFill>
        <p:spPr>
          <a:xfrm>
            <a:off x="6672180" y="4102737"/>
            <a:ext cx="3074719" cy="1526219"/>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2A7BB1AA-B8D3-C87F-7623-D8B1DE5CDEF8}"/>
              </a:ext>
            </a:extLst>
          </p:cNvPr>
          <p:cNvPicPr>
            <a:picLocks noChangeAspect="1"/>
          </p:cNvPicPr>
          <p:nvPr/>
        </p:nvPicPr>
        <p:blipFill>
          <a:blip r:embed="rId3"/>
          <a:stretch>
            <a:fillRect/>
          </a:stretch>
        </p:blipFill>
        <p:spPr>
          <a:xfrm>
            <a:off x="2265173" y="4375978"/>
            <a:ext cx="1569848" cy="1589230"/>
          </a:xfrm>
          <a:prstGeom prst="rect">
            <a:avLst/>
          </a:prstGeom>
        </p:spPr>
      </p:pic>
    </p:spTree>
    <p:extLst>
      <p:ext uri="{BB962C8B-B14F-4D97-AF65-F5344CB8AC3E}">
        <p14:creationId xmlns:p14="http://schemas.microsoft.com/office/powerpoint/2010/main" val="4202265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6FF78-45C7-D2A1-D762-8DC41843BECB}"/>
              </a:ext>
            </a:extLst>
          </p:cNvPr>
          <p:cNvSpPr>
            <a:spLocks noGrp="1"/>
          </p:cNvSpPr>
          <p:nvPr>
            <p:ph type="title"/>
          </p:nvPr>
        </p:nvSpPr>
        <p:spPr/>
        <p:txBody>
          <a:bodyPr/>
          <a:lstStyle/>
          <a:p>
            <a:r>
              <a:rPr lang="en-US" dirty="0"/>
              <a:t>Expression View</a:t>
            </a:r>
          </a:p>
        </p:txBody>
      </p:sp>
      <p:sp>
        <p:nvSpPr>
          <p:cNvPr id="3" name="Content Placeholder 2">
            <a:extLst>
              <a:ext uri="{FF2B5EF4-FFF2-40B4-BE49-F238E27FC236}">
                <a16:creationId xmlns:a16="http://schemas.microsoft.com/office/drawing/2014/main" id="{3A1F28F8-FFB9-D6B1-4242-3D9E8D6D6EFE}"/>
              </a:ext>
            </a:extLst>
          </p:cNvPr>
          <p:cNvSpPr>
            <a:spLocks noGrp="1"/>
          </p:cNvSpPr>
          <p:nvPr>
            <p:ph idx="1"/>
          </p:nvPr>
        </p:nvSpPr>
        <p:spPr/>
        <p:txBody>
          <a:bodyPr/>
          <a:lstStyle/>
          <a:p>
            <a:r>
              <a:rPr lang="en-US" dirty="0"/>
              <a:t>The Expression View automatically displays the value of a variable or array index. This is especially useful when you need to perform mathematical operations, so the variable receives the correct value. While debugging, you can type a variable name, and it would provide the value it contains.</a:t>
            </a:r>
          </a:p>
        </p:txBody>
      </p:sp>
      <p:pic>
        <p:nvPicPr>
          <p:cNvPr id="7" name="Picture 6" descr="A computer screen shot&#10;&#10;AI-generated content may be incorrect.">
            <a:extLst>
              <a:ext uri="{FF2B5EF4-FFF2-40B4-BE49-F238E27FC236}">
                <a16:creationId xmlns:a16="http://schemas.microsoft.com/office/drawing/2014/main" id="{6E768454-2D01-FD9F-BE04-272EF823CBBD}"/>
              </a:ext>
            </a:extLst>
          </p:cNvPr>
          <p:cNvPicPr>
            <a:picLocks noChangeAspect="1"/>
          </p:cNvPicPr>
          <p:nvPr/>
        </p:nvPicPr>
        <p:blipFill>
          <a:blip r:embed="rId2"/>
          <a:stretch>
            <a:fillRect/>
          </a:stretch>
        </p:blipFill>
        <p:spPr>
          <a:xfrm>
            <a:off x="838200" y="4200977"/>
            <a:ext cx="10119122" cy="2110923"/>
          </a:xfrm>
          <a:prstGeom prst="rect">
            <a:avLst/>
          </a:prstGeom>
        </p:spPr>
      </p:pic>
    </p:spTree>
    <p:extLst>
      <p:ext uri="{BB962C8B-B14F-4D97-AF65-F5344CB8AC3E}">
        <p14:creationId xmlns:p14="http://schemas.microsoft.com/office/powerpoint/2010/main" val="437039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F98E-B66C-BA00-1023-7F06B19AA767}"/>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B333F09-677C-8EDD-D187-175D4F69A679}"/>
              </a:ext>
            </a:extLst>
          </p:cNvPr>
          <p:cNvSpPr>
            <a:spLocks noGrp="1"/>
          </p:cNvSpPr>
          <p:nvPr>
            <p:ph idx="1"/>
          </p:nvPr>
        </p:nvSpPr>
        <p:spPr/>
        <p:txBody>
          <a:bodyPr/>
          <a:lstStyle/>
          <a:p>
            <a:r>
              <a:rPr lang="en-US" dirty="0"/>
              <a:t>Overall, Eclipse has many views that can help navigate through the IDE features by providing efficient ways to organize classes and debug programs. By analyzing each datatype, line, and variable value, programmers have a less difficult time searching through for logical errors in the program.</a:t>
            </a:r>
          </a:p>
        </p:txBody>
      </p:sp>
    </p:spTree>
    <p:extLst>
      <p:ext uri="{BB962C8B-B14F-4D97-AF65-F5344CB8AC3E}">
        <p14:creationId xmlns:p14="http://schemas.microsoft.com/office/powerpoint/2010/main" val="2581896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398</Words>
  <Application>Microsoft Office PowerPoint</Application>
  <PresentationFormat>Widescreen</PresentationFormat>
  <Paragraphs>16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Views Presentation</vt:lpstr>
      <vt:lpstr>Introduction</vt:lpstr>
      <vt:lpstr>Package Explorer View</vt:lpstr>
      <vt:lpstr>Type Hierarchy View</vt:lpstr>
      <vt:lpstr>Debug View</vt:lpstr>
      <vt:lpstr>Breakpoint View</vt:lpstr>
      <vt:lpstr>Expression View</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Hong</dc:creator>
  <cp:lastModifiedBy>David Hong</cp:lastModifiedBy>
  <cp:revision>2</cp:revision>
  <dcterms:created xsi:type="dcterms:W3CDTF">2025-12-28T20:04:08Z</dcterms:created>
  <dcterms:modified xsi:type="dcterms:W3CDTF">2025-12-28T22:33:29Z</dcterms:modified>
</cp:coreProperties>
</file>